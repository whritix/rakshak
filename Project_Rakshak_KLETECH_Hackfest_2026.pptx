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Overview &amp; Problem Statement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Project Title, Team Details, Selected Domain, Target Users &amp; The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PROJECT RAKSHAK 2.0 (रक्षक) — IDENTITY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Project Title: </a:t>
            </a:r>
            <a:r>
              <a:rPr b="0" sz="1050">
                <a:solidFill>
                  <a:srgbClr val="CBD5E1"/>
                </a:solidFill>
                <a:latin typeface="Calibri"/>
              </a:rPr>
              <a:t>Project Rakshak 2.0: Sovereign Multimodal Geospatial Threat Intelligence &amp; Joint C4ISR System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Team Name: </a:t>
            </a:r>
            <a:r>
              <a:rPr b="0" sz="1050">
                <a:solidFill>
                  <a:srgbClr val="CBD5E1"/>
                </a:solidFill>
                <a:latin typeface="Calibri"/>
              </a:rPr>
              <a:t>BotS (KLE Technological University, Hubballi)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Team Members: </a:t>
            </a:r>
            <a:r>
              <a:rPr b="0" sz="1050">
                <a:solidFill>
                  <a:srgbClr val="CBD5E1"/>
                </a:solidFill>
                <a:latin typeface="Calibri"/>
              </a:rPr>
              <a:t>Aditya Bajantri • Gagan Bongale • Utsav Nanapur • Misbah Falak • Shalina Maniyar • Niyati Gogri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Selected Domain: </a:t>
            </a:r>
            <a:r>
              <a:rPr b="0" sz="1050">
                <a:solidFill>
                  <a:srgbClr val="CBD5E1"/>
                </a:solidFill>
                <a:latin typeface="Calibri"/>
              </a:rPr>
              <a:t>Domain 1A — Sovereign Defense, Geospatial Intelligence &amp; Joint C4ISR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Target End-Users: </a:t>
            </a:r>
            <a:r>
              <a:rPr b="0" sz="1050">
                <a:solidFill>
                  <a:srgbClr val="CBD5E1"/>
                </a:solidFill>
                <a:latin typeface="Calibri"/>
              </a:rPr>
              <a:t>Maritime Ops Centers (Indian Navy / Coast Guard), Forward Operating Bases (Indian Army), Tactical UAV Recon Analysts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Operational Posture: </a:t>
            </a:r>
            <a:r>
              <a:rPr b="0" sz="1050">
                <a:solidFill>
                  <a:srgbClr val="CBD5E1"/>
                </a:solidFill>
                <a:latin typeface="Calibri"/>
              </a:rPr>
              <a:t>100% Air-Gapped, Zero External Cloud/API Callouts, Field-Edge Deployable (EMCON Alpha)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Core Mission: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Deliver automated, sub-second threat detection, dark vessel interdiction, and Rules of Engagement (RoE) advisory to combat commanders in bandwidth-denied environments.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2120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THE OPERATIONAL PROBLEM (INFORMATION SATURATION vs STARVATION)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1. Gigapixel Rasters vs Tiny Targets: </a:t>
            </a:r>
            <a:r>
              <a:rPr b="0" sz="1050">
                <a:solidFill>
                  <a:srgbClr val="CBD5E1"/>
                </a:solidFill>
                <a:latin typeface="Calibri"/>
              </a:rPr>
              <a:t>Military satellite &amp; UAV rasters exceed 20,000×20,000 pixels (&gt;500MB). Tactical targets (tanks, vessels, launchers) occupy only 15×15 pixels. Standard AI downsamples to 640×640, completely erasing critical targets.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2. Maritime 'Dark Vessels' &amp; AIS Spoofing: </a:t>
            </a:r>
            <a:r>
              <a:rPr b="0" sz="1050">
                <a:solidFill>
                  <a:srgbClr val="CBD5E1"/>
                </a:solidFill>
                <a:latin typeface="Calibri"/>
              </a:rPr>
              <a:t>Adversary intelligence ships and illegal vessels routinely disable AIS transponders or spoof MMSI identities in critical chokepoints (Malacca Strait, Mumbai ODA buffer), blinding optical radars.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3. Multi-Domain Sensor Silos: </a:t>
            </a:r>
            <a:r>
              <a:rPr b="0" sz="1050">
                <a:solidFill>
                  <a:srgbClr val="CBD5E1"/>
                </a:solidFill>
                <a:latin typeface="Calibri"/>
              </a:rPr>
              <a:t>Naval radar, satellite passes, Army drone video downlinks (FMV), and unattended ground sensors operate in isolated stovepipes. Zero-latency sensor-to-shooter coordination is absent.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4. Cloud Vulnerability at Forward Edges: </a:t>
            </a:r>
            <a:r>
              <a:rPr b="0" sz="1050">
                <a:solidFill>
                  <a:srgbClr val="CBD5E1"/>
                </a:solidFill>
                <a:latin typeface="Calibri"/>
              </a:rPr>
              <a:t>Commercial cloud AI tools (AWS, Azure, OpenAI) are completely unusable on frontline warships and forward combat posts due to strict EMCON radio silence, active electronic jamming, and data sovereignty laws.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Proposed Solution &amp; Key Objectives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Core Concept, Tactical Objectives, Core Architectural Features &amp; Strategic Operational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CORE SOLUTION CONCEPT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Sovereign Joint COP: </a:t>
            </a:r>
            <a:r>
              <a:rPr b="0" sz="1050">
                <a:solidFill>
                  <a:srgbClr val="CBD5E1"/>
                </a:solidFill>
                <a:latin typeface="Calibri"/>
              </a:rPr>
              <a:t>A self-contained, air-gapped Joint Common Operating Picture (COP) ingesting satellite Earth observation (EO), SAR radar, UAV drone downlinks, and AIS logs onto a single unified tactical HUD.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On-Premise Neural Engine: </a:t>
            </a:r>
            <a:r>
              <a:rPr b="0" sz="1050">
                <a:solidFill>
                  <a:srgbClr val="CBD5E1"/>
                </a:solidFill>
                <a:latin typeface="Calibri"/>
              </a:rPr>
              <a:t>Runs dual-engine computer vision (YOLO11m Medium 20.1M params + Vessel Specialist) with 1024×1024 sub-pixel sliding window tiling and Weighted Box Fusion (WBF).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Real-World Georeferencing: </a:t>
            </a:r>
            <a:r>
              <a:rPr b="0" sz="1050">
                <a:solidFill>
                  <a:srgbClr val="CBD5E1"/>
                </a:solidFill>
                <a:latin typeface="Calibri"/>
              </a:rPr>
              <a:t>Direct affine coordinate transformation via Rasterio/GDAL, mapping image pixels directly to real-world WGS-84 (EPSG:4326) Latitude/Longitude.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Air-Gapped Sovereign RAG: </a:t>
            </a:r>
            <a:r>
              <a:rPr b="0" sz="1050">
                <a:solidFill>
                  <a:srgbClr val="CBD5E1"/>
                </a:solidFill>
                <a:latin typeface="Calibri"/>
              </a:rPr>
              <a:t>Built-in cryptographic retrieval engine delivering instant military doctrine, UNCLOS law, and Rules of Engagement (RoE) checklists in &lt;40ms with zero cloud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KEY TACTICAL OBJECTIVES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Objective 1: Sub-Pixel Accuracy: </a:t>
            </a:r>
            <a:r>
              <a:rPr b="0" sz="1050">
                <a:solidFill>
                  <a:srgbClr val="CBD5E1"/>
                </a:solidFill>
                <a:latin typeface="Calibri"/>
              </a:rPr>
              <a:t>Detect small military targets (&lt;20px) across massive satellite scenes without downsampling loss, achieving &gt;43% mAP@50 and &gt;44% recall.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Objective 2: Dark Vessel Intercept: </a:t>
            </a:r>
            <a:r>
              <a:rPr b="0" sz="1050">
                <a:solidFill>
                  <a:srgbClr val="CBD5E1"/>
                </a:solidFill>
                <a:latin typeface="Calibri"/>
              </a:rPr>
              <a:t>All-weather SAR radar backscatter (CFAR) cross-correlated with local AIS databases to detect and isolate unflagged dark vessels.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Objective 3: O(N) Threat Geofencing: </a:t>
            </a:r>
            <a:r>
              <a:rPr b="0" sz="1050">
                <a:solidFill>
                  <a:srgbClr val="CBD5E1"/>
                </a:solidFill>
                <a:latin typeface="Calibri"/>
              </a:rPr>
              <a:t>Sub-second spatial grid cell hashing (~500m buckets) to flag convoy formations (+20) and restricted zone breaches (+30) in &lt;80ms.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Objective 4: Frontline Portability: </a:t>
            </a:r>
            <a:r>
              <a:rPr b="0" sz="1050">
                <a:solidFill>
                  <a:srgbClr val="CBD5E1"/>
                </a:solidFill>
                <a:latin typeface="Calibri"/>
              </a:rPr>
              <a:t>Full edge deployment capability on standard tactical laptops and low-power NVIDIA Jetson hardware (15W power envelope).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INTENDED BENEFITS &amp; IMPACT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Sensor-to-Shooter Acceleration: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Shrinks tactical threat verification and response time from 45+ minutes of manual image scanning down to under 3 seconds.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Zero False-Alarm Clutter: </a:t>
            </a:r>
            <a:r>
              <a:rPr b="0" sz="1050">
                <a:solidFill>
                  <a:srgbClr val="CBD5E1"/>
                </a:solidFill>
                <a:latin typeface="Calibri"/>
              </a:rPr>
              <a:t>Physical sanity bounding-box filters (aspect ratio &lt;= 4.5:1, vehicle dimensions 10-110px) eliminate 85% of terrain shadows and painted line false positives.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100% Data Sovereignty: </a:t>
            </a:r>
            <a:r>
              <a:rPr b="0" sz="1050">
                <a:solidFill>
                  <a:srgbClr val="CBD5E1"/>
                </a:solidFill>
                <a:latin typeface="Calibri"/>
              </a:rPr>
              <a:t>All intelligence, coordinates, and doctrine remain strictly on the local machine with zero data leakage to foreign servers or commercial APIs.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Interoperable Joint Action: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1-click dispatch transfers RAG tactical directives directly into the Mission Planner with sequenced operational checklists.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Innovation &amp; Existing Alternatives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Comparative Analysis: Conventional Defense Approaches vs Baseline Vision vs Project Rakshak 2.0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00400"/>
              </a:tblGrid>
              <a:tr h="62483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 Dimension</a:t>
                      </a:r>
                    </a:p>
                  </a:txBody>
                  <a:tcPr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Conventional Military C2 (Legacy)</a:t>
                      </a:r>
                    </a:p>
                  </a:txBody>
                  <a:tcPr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Vision Models (YOLOv8/v11 Base)</a:t>
                      </a:r>
                    </a:p>
                  </a:txBody>
                  <a:tcPr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50D7C7"/>
                          </a:solidFill>
                          <a:latin typeface="Calibri"/>
                        </a:defRPr>
                      </a:pPr>
                      <a:r>
                        <a:t>Project Rakshak 2.0 (Our Innovation)</a:t>
                      </a:r>
                    </a:p>
                  </a:txBody>
                  <a:tcPr>
                    <a:solidFill>
                      <a:srgbClr val="12304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Gigapixel Image Processing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Manual human photo-interpreter review; multi-hour latency.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Resizes whole image to 640×640, completely erasing targets &lt;20px.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1024×1024 overlapping slicing + Weighted Box Fusion (WBF). Zero target clipping.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Dark Vessel Interdiction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Relies entirely on cooperative AIS transponders; easily spoofed.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Optical-only detection; completely blinded by night, clouds, and haze.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Sentinel-1 SAR Radar CFAR backscatter cross-correlated against AIS logs. Flags non-broadcasting contacts.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Spatial Threat Scoring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Manual threat plotting on tactical charts; prone to operator lag.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Returns unconstrained raw bounding boxes without tactical context.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Sub-second O(N) spatial grid hashing. Autonomous convoy (+20) and geofence (+30) scoring in 80ms.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Network &amp; Infrastructure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Heavy centralized cloud server dependencies; vulnerable to jamming.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Requires external REST APIs and continuous cloud connectivity.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100% Air-Gapped Sovereign Edge runtime. Operates under strict EMCON radio silence.</a:t>
                      </a:r>
                    </a:p>
                  </a:txBody>
                  <a:tcPr>
                    <a:solidFill>
                      <a:srgbClr val="0E1F2E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Tactical Doctrine &amp; RoE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Physical printed doctrine binders or cloud LLMs (security leak).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No doctrine or operational decision support capability.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Sovereign Air-Gapped RAG Advisor: 8 indexed military doctrines with verified citations in &lt;40ms.</a:t>
                      </a:r>
                    </a:p>
                  </a:txBody>
                  <a:tcPr>
                    <a:solidFill>
                      <a:srgbClr val="0A18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6984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KEY INNOVATION SUMMARY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The Strategic Edge: </a:t>
            </a:r>
            <a:r>
              <a:rPr b="0" sz="1050">
                <a:solidFill>
                  <a:srgbClr val="CBD5E1"/>
                </a:solidFill>
                <a:latin typeface="Calibri"/>
              </a:rPr>
              <a:t>Project Rakshak combines sub-pixel neural vision, SAR-AIS cross-cueing, O(N) spatial threat math, and sovereign RAG into an integrated, zero-cloud edge package that operates seamlessly in frontline combat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System Architecture &amp; Operational Workflow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Labelled Multi-Tier Architecture Diagram, Real-Time Data Flow &amp; Frontline Operator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365760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TIER 1: SENSOR INGESTION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Satellite EO Rasters: </a:t>
            </a:r>
            <a:r>
              <a:rPr b="0" sz="1050">
                <a:solidFill>
                  <a:srgbClr val="CBD5E1"/>
                </a:solidFill>
                <a:latin typeface="Calibri"/>
              </a:rPr>
              <a:t>GeoTIFF (Sentinel-2, xView) up to 20K×20K pixels.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SAR Radar Streams: </a:t>
            </a:r>
            <a:r>
              <a:rPr b="0" sz="1050">
                <a:solidFill>
                  <a:srgbClr val="CBD5E1"/>
                </a:solidFill>
                <a:latin typeface="Calibri"/>
              </a:rPr>
              <a:t>Sentinel-1 / RISAT synthetic aperture radar backscatter.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Tactical Drone Downlinks: </a:t>
            </a:r>
            <a:r>
              <a:rPr b="0" sz="1050">
                <a:solidFill>
                  <a:srgbClr val="CBD5E1"/>
                </a:solidFill>
                <a:latin typeface="Calibri"/>
              </a:rPr>
              <a:t>RTSP / MP4 high-resolution aerial full-motion video.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Maritime AIS &amp; Signals: </a:t>
            </a:r>
            <a:r>
              <a:rPr b="0" sz="1050">
                <a:solidFill>
                  <a:srgbClr val="CBD5E1"/>
                </a:solidFill>
                <a:latin typeface="Calibri"/>
              </a:rPr>
              <a:t>AIS transponder feeds + 433.85 MHz SIGINT intercepts.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468880" cy="365760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TIER 2: NEURAL VISION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Sub-Pixel Slicer: </a:t>
            </a:r>
            <a:r>
              <a:rPr b="0" sz="1050">
                <a:solidFill>
                  <a:srgbClr val="CBD5E1"/>
                </a:solidFill>
                <a:latin typeface="Calibri"/>
              </a:rPr>
              <a:t>1024×1024 tiles with 31% overlap (zero seam clipping).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Dual-Engine Detector: </a:t>
            </a:r>
            <a:r>
              <a:rPr b="0" sz="1050">
                <a:solidFill>
                  <a:srgbClr val="CBD5E1"/>
                </a:solidFill>
                <a:latin typeface="Calibri"/>
              </a:rPr>
              <a:t>YOLO11m Medium (20.1M params) + Vessel Specialist.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Weighted Box Fusion: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Consolidates overlapping multi-tile boxes (IoU 0.35).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Physical Sanity Gating: </a:t>
            </a:r>
            <a:r>
              <a:rPr b="0" sz="1050">
                <a:solidFill>
                  <a:srgbClr val="CBD5E1"/>
                </a:solidFill>
                <a:latin typeface="Calibri"/>
              </a:rPr>
              <a:t>Filters impossible dimensions (aspect ratio &lt;= 4.5:1).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468880" cy="365760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TIER 3: SPATIAL THREAT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WGS-84 Georeferencer: </a:t>
            </a:r>
            <a:r>
              <a:rPr b="0" sz="1050">
                <a:solidFill>
                  <a:srgbClr val="CBD5E1"/>
                </a:solidFill>
                <a:latin typeface="Calibri"/>
              </a:rPr>
              <a:t>Affine transform mapping pixel (x,y) to real Lat/Lon.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SAR-AIS Correlator: </a:t>
            </a:r>
            <a:r>
              <a:rPr b="0" sz="1050">
                <a:solidFill>
                  <a:srgbClr val="CBD5E1"/>
                </a:solidFill>
                <a:latin typeface="Calibri"/>
              </a:rPr>
              <a:t>Cross-checks radar vs 1.2km AIS to flag dark vessels.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O(N) Spatial Grid Hash: </a:t>
            </a:r>
            <a:r>
              <a:rPr b="0" sz="1050">
                <a:solidFill>
                  <a:srgbClr val="CBD5E1"/>
                </a:solidFill>
                <a:latin typeface="Calibri"/>
              </a:rPr>
              <a:t>Computes convoy formations and geofences in 80ms.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Threat Scoring Matrix: </a:t>
            </a:r>
            <a:r>
              <a:rPr b="0" sz="1050">
                <a:solidFill>
                  <a:srgbClr val="CBD5E1"/>
                </a:solidFill>
                <a:latin typeface="Calibri"/>
              </a:rPr>
              <a:t>Transparent 0-100 scoring based on RoE infractions.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468880" cy="365760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371600"/>
            <a:ext cx="24688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TIER 4: TACTICAL C2 &amp; RAG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Sovereign RAG Engine: </a:t>
            </a:r>
            <a:r>
              <a:rPr b="0" sz="1050">
                <a:solidFill>
                  <a:srgbClr val="CBD5E1"/>
                </a:solidFill>
                <a:latin typeface="Calibri"/>
              </a:rPr>
              <a:t>Air-gapped lexical + semantic doctrine matcher.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Executive BLUF Synthesis: </a:t>
            </a:r>
            <a:r>
              <a:rPr b="0" sz="1050">
                <a:solidFill>
                  <a:srgbClr val="CBD5E1"/>
                </a:solidFill>
                <a:latin typeface="Calibri"/>
              </a:rPr>
              <a:t>Instant human-readable SITREP generation (&lt;40ms).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Military Leaflet HUD: </a:t>
            </a:r>
            <a:r>
              <a:rPr b="0" sz="1050">
                <a:solidFill>
                  <a:srgbClr val="CBD5E1"/>
                </a:solidFill>
                <a:latin typeface="Calibri"/>
              </a:rPr>
              <a:t>Air-gapped geospatial COP with tactical heatmaps.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Mission Planner Dispatch: </a:t>
            </a:r>
            <a:r>
              <a:rPr b="0" sz="1050">
                <a:solidFill>
                  <a:srgbClr val="CBD5E1"/>
                </a:solidFill>
                <a:latin typeface="Calibri"/>
              </a:rPr>
              <a:t>1-click handover from RoE directive to action plan.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12080"/>
            <a:ext cx="106984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FRONTLINE OPERATOR WORKFLOW (STEP-BY-STEP)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Step 1 -&gt; Step 2 -&gt; Step 3 -&gt; Step 4: </a:t>
            </a:r>
            <a:r>
              <a:rPr b="0" sz="1050">
                <a:solidFill>
                  <a:srgbClr val="CBD5E1"/>
                </a:solidFill>
                <a:latin typeface="Calibri"/>
              </a:rPr>
              <a:t>Operator loads satellite pass or drone feed -&gt; System executes sub-pixel detection &amp; SAR-AIS correlation -&gt; O(N) threat engine flags high-risk contacts &amp; geofence breaches -&gt; Sovereign RAG generates authorized RoE directive &amp; dispatches action checklist to Mission Planner in &lt;3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Technology Stack &amp; Implementation Plan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Strategic Technology Choices ('The Why'), Team Responsibilities &amp; Hackathon Development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CHOSEN TECHNOLOGIES &amp; STRATEGIC JUSTIFICATIONS ('THE WHY')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AI / Object Detection: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YOLO11m (Medium) Custom Trained: 20.1M parameters deliver +78.9% recall boost over nano models, running at 45+ FPS with FP16 Tensor Cores on edge GPUs.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Geospatial &amp; Coordinate Mapping: </a:t>
            </a:r>
            <a:r>
              <a:rPr b="0" sz="1050">
                <a:solidFill>
                  <a:srgbClr val="CBD5E1"/>
                </a:solidFill>
                <a:latin typeface="Calibri"/>
              </a:rPr>
              <a:t>Rasterio + GDAL + OpenCV: Reads embedded GeoTIFF affine transform matrices to project bounding box pixels directly into real-world WGS-84 coordinates.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Threat Analysis Engine: </a:t>
            </a:r>
            <a:r>
              <a:rPr b="0" sz="1050">
                <a:solidFill>
                  <a:srgbClr val="CBD5E1"/>
                </a:solidFill>
                <a:latin typeface="Calibri"/>
              </a:rPr>
              <a:t>O(N) Spatial Hash Grid (Python 3.11): Replaces slow O(N^2) pairwise distance loops, computing clustering across 2,500+ targets in 80ms (400x speedup).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Database Architecture: </a:t>
            </a:r>
            <a:r>
              <a:rPr b="0" sz="1050">
                <a:solidFill>
                  <a:srgbClr val="CBD5E1"/>
                </a:solidFill>
                <a:latin typeface="Calibri"/>
              </a:rPr>
              <a:t>SQLite 3 in WAL Mode: Zero daemon overhead, immune to network crashes, sub-millisecond atomic reads/writes, 100% self-contained in a single atomic file.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Backend Framework: </a:t>
            </a:r>
            <a:r>
              <a:rPr b="0" sz="1050">
                <a:solidFill>
                  <a:srgbClr val="CBD5E1"/>
                </a:solidFill>
                <a:latin typeface="Calibri"/>
              </a:rPr>
              <a:t>FastAPI + Uvicorn: High-throughput async multipart streaming for gigabyte GeoTIFFs with strict Pydantic type safety and self-documenting OpenAPI specs.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Tactical User Interface: </a:t>
            </a:r>
            <a:r>
              <a:rPr b="0" sz="1050">
                <a:solidFill>
                  <a:srgbClr val="CBD5E1"/>
                </a:solidFill>
                <a:latin typeface="Calibri"/>
              </a:rPr>
              <a:t>React 19 + TypeScript + Vite + Leaflet: Instant hot-reloading, zero-latency dark HUD theme, offline tile caching with zero telemetry callouts.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212080" cy="233172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212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TEAM BotS RESPONSIBILITIES &amp; WORK ALLOCATION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AI &amp; Neural Vision Leads: </a:t>
            </a:r>
            <a:r>
              <a:rPr b="0" sz="1050">
                <a:solidFill>
                  <a:srgbClr val="CBD5E1"/>
                </a:solidFill>
                <a:latin typeface="Calibri"/>
              </a:rPr>
              <a:t>Aditya Bajantri &amp; Gagan Bongale: YOLO11m training, multi-tile sliding window slicer, WBF tuning, and physical geometry sanity filters.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Geospatial &amp; Backend Leads: </a:t>
            </a:r>
            <a:r>
              <a:rPr b="0" sz="1050">
                <a:solidFill>
                  <a:srgbClr val="CBD5E1"/>
                </a:solidFill>
                <a:latin typeface="Calibri"/>
              </a:rPr>
              <a:t>Utsav Nanapur &amp; Misbah Falak: FastAPI architecture, Rasterio coordinate mapping, SAR CFAR radar detector, and SQLite WAL database.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Tactical UI &amp; Systems Leads: </a:t>
            </a:r>
            <a:r>
              <a:rPr b="0" sz="1050">
                <a:solidFill>
                  <a:srgbClr val="CBD5E1"/>
                </a:solidFill>
                <a:latin typeface="Calibri"/>
              </a:rPr>
              <a:t>Shalina Maniyar &amp; Niyati Gogri: React 19 Leaflet geospatial dashboard, military dark HUD, Sovereign RAG doctrine integration, and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977639"/>
            <a:ext cx="5212080" cy="233172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977639"/>
            <a:ext cx="52120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799"/>
            <a:ext cx="4846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HACKATHON IMPLEMENTATION ROADMAP (HOURS 0-36)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Phase 1: Ingestion &amp; Baseline (0-8h): </a:t>
            </a:r>
            <a:r>
              <a:rPr b="0" sz="1050">
                <a:solidFill>
                  <a:srgbClr val="CBD5E1"/>
                </a:solidFill>
                <a:latin typeface="Calibri"/>
              </a:rPr>
              <a:t>Setup GeoTIFF sliding window tiling pipeline, integrate baseline YOLO model, verify local SQLite database schema.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Phase 2: Dual-Engine &amp; Fusion (8-20h): </a:t>
            </a:r>
            <a:r>
              <a:rPr b="0" sz="1050">
                <a:solidFill>
                  <a:srgbClr val="CBD5E1"/>
                </a:solidFill>
                <a:latin typeface="Calibri"/>
              </a:rPr>
              <a:t>Implement YOLO11m + Vessel specialist ensemble, build SAR CFAR radar detector, write O(N) spatial threat clustering engine.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Phase 3: Tactical HUD &amp; RAG (20-28h): </a:t>
            </a:r>
            <a:r>
              <a:rPr b="0" sz="1050">
                <a:solidFill>
                  <a:srgbClr val="CBD5E1"/>
                </a:solidFill>
                <a:latin typeface="Calibri"/>
              </a:rPr>
              <a:t>Construct React 19 Leaflet COP, design military dark HUD, implement Sovereign RAG with 8 indexed defense doctrines.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Phase 4: Stress-Testing &amp; Demo (28-36h): </a:t>
            </a:r>
            <a:r>
              <a:rPr b="0" sz="1050">
                <a:solidFill>
                  <a:srgbClr val="CBD5E1"/>
                </a:solidFill>
                <a:latin typeface="Calibri"/>
              </a:rPr>
              <a:t>Conduct gigapixel image stress tests, verify sub-second latencies on edge GPU, rehearse live multi-domain defense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50D7C7"/>
                </a:solidFill>
                <a:latin typeface="Calibri"/>
              </a:defRPr>
            </a:pPr>
            <a:r>
              <a:t>KLETECH HACKFEST 2026  //  SCREENING ROUND IDEA PRESENTATION  |  SLIDE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Expected Outcomes, Demo Plan &amp; Success Metrics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Planned Deliverables, Interactive Live Demo Flow, Measures of Success &amp; 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50D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0D7C7"/>
                </a:solidFill>
                <a:latin typeface="Calibri"/>
              </a:defRPr>
            </a:pPr>
            <a:r>
              <a:t>PLANNED DELIVERABLES (WORKING PROTOTYPE)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1. Joint Tactical C2 Dashboard: </a:t>
            </a:r>
            <a:r>
              <a:rPr b="0" sz="1050">
                <a:solidFill>
                  <a:srgbClr val="CBD5E1"/>
                </a:solidFill>
                <a:latin typeface="Calibri"/>
              </a:rPr>
              <a:t>Fully functional browser-based COP displaying fused optical satellite, SAR radar, and drone reconnaissance feeds.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2. Sub-Pixel Detection Pipeline: </a:t>
            </a:r>
            <a:r>
              <a:rPr b="0" sz="1050">
                <a:solidFill>
                  <a:srgbClr val="CBD5E1"/>
                </a:solidFill>
                <a:latin typeface="Calibri"/>
              </a:rPr>
              <a:t>Real-time sliding window analysis of multi-gigabyte satellite scenes detecting small vehicles and aircraft in &lt;1.8s.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3. SAR Dark Vessel Interceptor: </a:t>
            </a:r>
            <a:r>
              <a:rPr b="0" sz="1050">
                <a:solidFill>
                  <a:srgbClr val="CBD5E1"/>
                </a:solidFill>
                <a:latin typeface="Calibri"/>
              </a:rPr>
              <a:t>Automated radar backscatter clustering cross-referenced with AIS transponders to flag uncooperative vessels.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4. Sovereign Air-Gapped RAG: </a:t>
            </a:r>
            <a:r>
              <a:rPr b="0" sz="1050">
                <a:solidFill>
                  <a:srgbClr val="CBD5E1"/>
                </a:solidFill>
                <a:latin typeface="Calibri"/>
              </a:rPr>
              <a:t>Instant, offline military doctrine advisor synthesizing executive BLUF briefings and RoE checklists in &lt;40ms.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MVP vs Future Scope: </a:t>
            </a:r>
            <a:r>
              <a:rPr b="0" sz="1050">
                <a:solidFill>
                  <a:srgbClr val="CBD5E1"/>
                </a:solidFill>
                <a:latin typeface="Calibri"/>
              </a:rPr>
              <a:t>• Hackathon MVP: Fully working air-gapped prototype with optical, SAR, threat math, and RAG.
• Future Enhancements: Hardware integration with Indian NavIC receiver &amp; drone gimbal autopilot.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INTERACTIVE LIVE DEMO PLAN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Act 1: Massive Satellite Ingestion: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Upload a 3,000×3,000px military satellite scene -&gt; Rakshak slices tiles, runs YOLO11m, and detects dispersed tactical convoys in 1.4s.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Act 2: SAR Dark Vessel Isolation: </a:t>
            </a:r>
            <a:r>
              <a:rPr b="0" sz="1050">
                <a:solidFill>
                  <a:srgbClr val="CBD5E1"/>
                </a:solidFill>
                <a:latin typeface="Calibri"/>
              </a:rPr>
              <a:t>Switch to SAR radar view -&gt; system evaluates radar cross-section (RCS) against sea clutter, detects dark vessel in Mumbai ODA buffer, triggers Threat Score 88.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Act 3: Sovereign RAG &amp; RoE Advisory: </a:t>
            </a:r>
            <a:r>
              <a:rPr b="0" sz="1050">
                <a:solidFill>
                  <a:srgbClr val="CBD5E1"/>
                </a:solidFill>
                <a:latin typeface="Calibri"/>
              </a:rPr>
              <a:t>Operator opens 'Tactical AI (RAG)' -&gt; queries authorized RoE for Mumbai ODA -&gt; receives instant human-readable BLUF summary and legal citations in 36ms.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Act 4: 1-Click Mission Dispatch: </a:t>
            </a:r>
            <a:r>
              <a:rPr b="0" sz="1050">
                <a:solidFill>
                  <a:srgbClr val="CBD5E1"/>
                </a:solidFill>
                <a:latin typeface="Calibri"/>
              </a:rPr>
              <a:t>Operator clicks 'Dispatch Directive to Mission Planner' -&gt; system automatically generates operational tasks with assigned tactical units.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0E1F2E"/>
          </a:solidFill>
          <a:ln w="12700">
            <a:solidFill>
              <a:srgbClr val="1E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709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Calibri"/>
              </a:defRPr>
            </a:pPr>
            <a:r>
              <a:t>SUCCESS METRICS &amp; RISK MITIGATION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Key Measures of Success: </a:t>
            </a:r>
            <a:r>
              <a:rPr b="0" sz="1050">
                <a:solidFill>
                  <a:srgbClr val="CBD5E1"/>
                </a:solidFill>
                <a:latin typeface="Calibri"/>
              </a:rPr>
              <a:t>• Detection Accuracy: 43.3% mAP@50 and 44.0% Recall (+78.9% gain over baseline).
• Inference Latency: &lt;1.8s for multi-tile satellite raster analysis.
• Threat Calculation: &lt;80ms for 2,500+ contacts.
• Zero Cloud Leakage: 100% air-gapped execution.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Required Datasets &amp; Tools: </a:t>
            </a:r>
            <a:r>
              <a:rPr b="0" sz="1050">
                <a:solidFill>
                  <a:srgbClr val="CBD5E1"/>
                </a:solidFill>
                <a:latin typeface="Calibri"/>
              </a:rPr>
              <a:t>• Pre-cached xView defense dataset &amp; Sentinel GeoTIFFs.
• Local SQLite database &amp; Python/React stack.
• ZERO paid external APIs; zero internet required.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FFFF"/>
                </a:solidFill>
                <a:latin typeface="Calibri"/>
              </a:rPr>
              <a:t>Key Risks &amp; Mitigations: </a:t>
            </a:r>
            <a:r>
              <a:rPr b="0" sz="1050">
                <a:solidFill>
                  <a:srgbClr val="CBD5E1"/>
                </a:solidFill>
                <a:latin typeface="Calibri"/>
              </a:rPr>
              <a:t>• GPU Memory Overflow: Mitigated via sequential 1024px streaming crop with FP16 AMP.
• Air-Gap Network Denied: All models, weights (161MB), and map tiles pre-cached locally on disk.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