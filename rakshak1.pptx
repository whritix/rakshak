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dea" id="{1bf9b38b-adfa-48e5-1911-8fbd89df699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Rakshak 2.0  |  Team BotS  |  KLETECH Hackfest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Project Overview &amp; Problem Statement</a:t>
            </a:r>
            <a:endParaRPr lang="en-US" dirty="0"/>
          </a:p>
        </p:txBody>
      </p:sp>
      <p:sp>
        <p:nvSpPr>
          <p:cNvPr id="4" name="info card"/>
          <p:cNvSpPr/>
          <p:nvPr/>
        </p:nvSpPr>
        <p:spPr>
          <a:xfrm>
            <a:off x="457200" y="1051560"/>
            <a:ext cx="3657600" cy="36576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15568"/>
            <a:ext cx="347472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sz="900" b="1"/>
              <a:t>PROJECT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sz="1000"/>
              <a:t>Rakshak 2.0: Sovereign Tactical Watch &amp; Multi-Domain Threat Intelligence</a:t>
            </a:r>
            <a:endParaRPr lang="en-US" sz="1300" dirty="0"/>
          </a:p>
          <a:p>
            <a:pPr indent="0" marL="0">
              <a:buNone/>
            </a:pPr>
            <a:r>
              <a:rPr sz="900" b="1"/>
              <a:t>TEAM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sz="1000"/>
              <a:t>Team BotS, KLS Gogte Institute of Technology, Belagavi</a:t>
            </a:r>
            <a:endParaRPr lang="en-US" sz="1300" dirty="0"/>
          </a:p>
          <a:p>
            <a:pPr indent="0" marL="0">
              <a:buNone/>
            </a:pPr>
            <a:r>
              <a:rPr sz="900" b="1"/>
              <a:t>MEMBERS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sz="950"/>
              <a:t>Aditya Bajantri, Gagan Bongale, Utsav Nanapur, Misbah Falak, Shalina Maniyar, Niyati Gogri</a:t>
            </a:r>
            <a:endParaRPr lang="en-US" sz="1300" dirty="0"/>
          </a:p>
          <a:p>
            <a:pPr indent="0" marL="0">
              <a:buNone/>
            </a:pPr>
            <a:r>
              <a:rPr sz="900" b="1"/>
              <a:t>DOMAIN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sz="950"/>
              <a:t>Domain 1: Defense, Aerospace, Navy, Sovereign AI | Problem 1A: Naval / Army Geospatial Threat Detection</a:t>
            </a:r>
            <a:endParaRPr lang="en-US" sz="1300" dirty="0"/>
          </a:p>
          <a:p>
            <a:pPr indent="0" marL="0">
              <a:buNone/>
            </a:pPr>
            <a:r>
              <a:rPr sz="900" b="1"/>
              <a:t>TARGET USERS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sz="950"/>
              <a:t>Naval C2 Watch Officers, Army FOB Tactical Analysts, Maritime Patrol Aircrews, Edge Units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005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solve</a:t>
            </a:r>
            <a:endParaRPr lang="en-US" sz="2000" dirty="0"/>
          </a:p>
        </p:txBody>
      </p:sp>
      <p:sp>
        <p:nvSpPr>
          <p:cNvPr id="7" name="problem card"/>
          <p:cNvSpPr/>
          <p:nvPr/>
        </p:nvSpPr>
        <p:spPr>
          <a:xfrm>
            <a:off x="4389120" y="1463040"/>
            <a:ext cx="4297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8" name="num"/>
          <p:cNvSpPr txBox="1"/>
          <p:nvPr/>
        </p:nvSpPr>
        <p:spPr>
          <a:xfrm>
            <a:off x="4480560" y="16276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499616"/>
            <a:ext cx="361188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sz="1200"/>
              <a:t>Dark Vessels &amp; Stealth Targets: AIS transponders spoofed or disabled; clouds &amp; nighttime blind optical satellites.</a:t>
            </a:r>
            <a:endParaRPr lang="en-US" sz="1300" dirty="0"/>
          </a:p>
        </p:txBody>
      </p:sp>
      <p:sp>
        <p:nvSpPr>
          <p:cNvPr id="10" name="problem card"/>
          <p:cNvSpPr/>
          <p:nvPr/>
        </p:nvSpPr>
        <p:spPr>
          <a:xfrm>
            <a:off x="4389120" y="2286000"/>
            <a:ext cx="4297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1" name="num"/>
          <p:cNvSpPr txBox="1"/>
          <p:nvPr/>
        </p:nvSpPr>
        <p:spPr>
          <a:xfrm>
            <a:off x="4480560" y="245059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322576"/>
            <a:ext cx="361188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sz="1200"/>
              <a:t>Analyst Cognitive Overload: Screening high-res 1024px satellite scenes takes 35+ minutes manually per AOI.</a:t>
            </a:r>
            <a:endParaRPr lang="en-US" sz="1300" dirty="0"/>
          </a:p>
        </p:txBody>
      </p:sp>
      <p:sp>
        <p:nvSpPr>
          <p:cNvPr id="13" name="problem card"/>
          <p:cNvSpPr/>
          <p:nvPr/>
        </p:nvSpPr>
        <p:spPr>
          <a:xfrm>
            <a:off x="4389120" y="3108960"/>
            <a:ext cx="4297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4" name="num"/>
          <p:cNvSpPr txBox="1"/>
          <p:nvPr/>
        </p:nvSpPr>
        <p:spPr>
          <a:xfrm>
            <a:off x="4480560" y="327355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145536"/>
            <a:ext cx="361188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sz="1200"/>
              <a:t>False Alarms in Complex Terrain: Generic AI mistakes road stripes, field borders, and shadows for tactical vehicles.</a:t>
            </a:r>
            <a:endParaRPr lang="en-US" sz="1300" dirty="0"/>
          </a:p>
        </p:txBody>
      </p:sp>
      <p:sp>
        <p:nvSpPr>
          <p:cNvPr id="16" name="problem card"/>
          <p:cNvSpPr/>
          <p:nvPr/>
        </p:nvSpPr>
        <p:spPr>
          <a:xfrm>
            <a:off x="4389120" y="3931920"/>
            <a:ext cx="4297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7" name="num"/>
          <p:cNvSpPr txBox="1"/>
          <p:nvPr/>
        </p:nvSpPr>
        <p:spPr>
          <a:xfrm>
            <a:off x="4480560" y="409651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968496"/>
            <a:ext cx="361188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sz="1200"/>
              <a:t>Sovereignty &amp; Air-Gap Mandate: Cloud AI is strictly off-limits in military ops due to EW jamming and national security.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Proposed Solution &amp; Objectives</a:t>
            </a:r>
            <a:endParaRPr lang="en-US" dirty="0"/>
          </a:p>
        </p:txBody>
      </p:sp>
      <p:sp>
        <p:nvSpPr>
          <p:cNvPr id="4" name="banner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8046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sz="1400"/>
              <a:t>Sub-2-second multi-spectral surveillance fusion (Optical + SAR + AIS + Drone/UGS) with explainable threat vectoring on sovereign edge hardware.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57200" y="178308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46888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All-Weather Surveillance: Optical YOLO11m + Sentinel-1 CA-CFAR radar engine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Dark Vessel Interception: Cross-match radar contacts vs local AIS stream (91.7% capture)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Explainable Threat Matrix: 0-100 deterministic score with spatial O(N) grid index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Air-Gapped Doctrine RAG: Sub-40ms Indian Navy/Army Rules of Engagement advice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46120" y="178308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3756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240280"/>
            <a:ext cx="246888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Dual YOLO11 Ensemble: YOLO11m (20.1M military) + 1024px specialist with WBF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Validated 43.4% mAP50: Rigorously evaluated on 1,068 scenes / 128,390 ground targets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Rare-Class Breakthrough: Vessel mAP up 6.1x (3.4% -&gt; 20.8%); Aircraft recall at 81.3%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Multi-Domain C2 Feeds: Drone UAV EO/IR &amp; Ground UGS status lifecycle management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Kinematic CEP Model: Uncertainty ellipse prediction + dynamic STANAG SITREP export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6035040" y="178308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Intended benefits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000" b="1"/>
              <a:t>35 min &gt; 1.8 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100"/>
              <a:t>scene-to-decision time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000" b="1"/>
              <a:t>43.4% mAP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100"/>
              <a:t>6.1x vessel detection gain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840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700" b="1"/>
              <a:t>0 Cloud / 100% Edge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100"/>
              <a:t>air-gapped sovereign C4ISR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Innovation &amp; Existing Alternatives</a:t>
            </a:r>
            <a:endParaRPr lang="en-US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33832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Existing approach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Limitation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How Rakshak 2.0 differs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Optical-only satellite AI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Blind in cloud cover, fog, smoke, and nighttime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Dual-Spectrum Fusion: Pairs 1024px optical YOLO11 with Sentinel-1 SAR radar for 24/7 all-weather surveillance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AIS-only tracking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Hostile / dark ships turn off or spoof AIS transponders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Dark Vessel Intercept: Auto-correlates radar contacts against AIS logs; flags unlisted contacts (91.7% capture rate)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Generic YOLO on overhead imagery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Road markings, parking stripes, and shadows cause false vehicles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Balanced Surveillance: Class-weighted focal loss, 1024px tiling, WBF consensus (x1.35), GSD aspect-ratio geometry gating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Cloud LLMs (OpenAI/Gemini)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Strictly prohibited in air-gapped defense; vulnerable to EW jamming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 Offline Sovereign RAG: BM25 doctrine engine delivering Indian Armed Forces RoE advice in &lt;40ms with zero cloud egress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difference strip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3886200"/>
            <a:ext cx="79552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sz="1300"/>
              <a:t>What makes it different: One sovereign offline C4ISR platform fusing optical neural detection (43.4% mAP), CA-CFAR radar, multi-domain drone/UGS feeds, kinematic CEP tracking &amp; air-gapped RoE advice into an explainable 0-100 threat score.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System Architecture &amp; Workflow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87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INPUTS (LOCAL)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987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FASTAPI ENGINES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987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THREAT CORE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OUTPUTS (REACT C2 HUD)</a:t>
            </a:r>
            <a:endParaRPr lang="en-US" sz="1100" dirty="0"/>
          </a:p>
        </p:txBody>
      </p:sp>
      <p:sp>
        <p:nvSpPr>
          <p:cNvPr id="8" name="node"/>
          <p:cNvSpPr/>
          <p:nvPr/>
        </p:nvSpPr>
        <p:spPr>
          <a:xfrm>
            <a:off x="365760" y="128016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" y="1280160"/>
            <a:ext cx="17373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Optical GeoTIFF / UAV (1024px)</a:t>
            </a:r>
            <a:endParaRPr lang="en-US" sz="1100" dirty="0"/>
          </a:p>
        </p:txBody>
      </p:sp>
      <p:sp>
        <p:nvSpPr>
          <p:cNvPr id="10" name="node"/>
          <p:cNvSpPr/>
          <p:nvPr/>
        </p:nvSpPr>
        <p:spPr>
          <a:xfrm>
            <a:off x="365760" y="182880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Sentinel-1 SAR Radar (C-Band)</a:t>
            </a:r>
            <a:endParaRPr lang="en-US" sz="1100" dirty="0"/>
          </a:p>
        </p:txBody>
      </p:sp>
      <p:sp>
        <p:nvSpPr>
          <p:cNvPr id="12" name="node"/>
          <p:cNvSpPr/>
          <p:nvPr/>
        </p:nvSpPr>
        <p:spPr>
          <a:xfrm>
            <a:off x="365760" y="237744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Local AIS Commercial Feed</a:t>
            </a:r>
            <a:endParaRPr lang="en-US" sz="1100" dirty="0"/>
          </a:p>
        </p:txBody>
      </p:sp>
      <p:sp>
        <p:nvSpPr>
          <p:cNvPr id="14" name="node"/>
          <p:cNvSpPr/>
          <p:nvPr/>
        </p:nvSpPr>
        <p:spPr>
          <a:xfrm>
            <a:off x="365760" y="292608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576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Multi-Domain Drone &amp; UGS Feeds</a:t>
            </a:r>
            <a:endParaRPr lang="en-US" sz="1100" dirty="0"/>
          </a:p>
        </p:txBody>
      </p:sp>
      <p:sp>
        <p:nvSpPr>
          <p:cNvPr id="16" name="node"/>
          <p:cNvSpPr/>
          <p:nvPr/>
        </p:nvSpPr>
        <p:spPr>
          <a:xfrm>
            <a:off x="2468880" y="1280160"/>
            <a:ext cx="192024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46888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Vision: 1024px Tiling + YOLO11m + WBF</a:t>
            </a:r>
            <a:endParaRPr lang="en-US" sz="1100" dirty="0"/>
          </a:p>
        </p:txBody>
      </p:sp>
      <p:sp>
        <p:nvSpPr>
          <p:cNvPr id="18" name="node"/>
          <p:cNvSpPr/>
          <p:nvPr/>
        </p:nvSpPr>
        <p:spPr>
          <a:xfrm>
            <a:off x="2468880" y="2103120"/>
            <a:ext cx="192024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6888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SAR: CA-CFAR + Dark Ship Intercept</a:t>
            </a:r>
            <a:endParaRPr lang="en-US" sz="1100" dirty="0"/>
          </a:p>
        </p:txBody>
      </p:sp>
      <p:sp>
        <p:nvSpPr>
          <p:cNvPr id="20" name="node"/>
          <p:cNvSpPr/>
          <p:nvPr/>
        </p:nvSpPr>
        <p:spPr>
          <a:xfrm>
            <a:off x="2468880" y="2926080"/>
            <a:ext cx="192024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6888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Rasterio WGS-84 Georeferencing</a:t>
            </a:r>
            <a:endParaRPr lang="en-US" sz="1100" dirty="0"/>
          </a:p>
        </p:txBody>
      </p:sp>
      <p:sp>
        <p:nvSpPr>
          <p:cNvPr id="22" name="node"/>
          <p:cNvSpPr/>
          <p:nvPr/>
        </p:nvSpPr>
        <p:spPr>
          <a:xfrm>
            <a:off x="4754880" y="1417320"/>
            <a:ext cx="164592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54880" y="1417320"/>
            <a:ext cx="16459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O(N) Spatial Threat Grid (0-100)</a:t>
            </a:r>
            <a:endParaRPr lang="en-US" sz="1100" dirty="0"/>
          </a:p>
        </p:txBody>
      </p:sp>
      <p:sp>
        <p:nvSpPr>
          <p:cNvPr id="24" name="node"/>
          <p:cNvSpPr/>
          <p:nvPr/>
        </p:nvSpPr>
        <p:spPr>
          <a:xfrm>
            <a:off x="4754880" y="2651760"/>
            <a:ext cx="164592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651760"/>
            <a:ext cx="16459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Air-Gapped SQLite WAL (200k PBKDF2)</a:t>
            </a:r>
            <a:endParaRPr lang="en-US" sz="1100" dirty="0"/>
          </a:p>
        </p:txBody>
      </p:sp>
      <p:sp>
        <p:nvSpPr>
          <p:cNvPr id="26" name="node"/>
          <p:cNvSpPr/>
          <p:nvPr/>
        </p:nvSpPr>
        <p:spPr>
          <a:xfrm>
            <a:off x="6766560" y="1280160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Live C2 Map &amp; Multi-Domain Feeds</a:t>
            </a:r>
            <a:endParaRPr lang="en-US" sz="1100" dirty="0"/>
          </a:p>
        </p:txBody>
      </p:sp>
      <p:sp>
        <p:nvSpPr>
          <p:cNvPr id="28" name="node"/>
          <p:cNvSpPr/>
          <p:nvPr/>
        </p:nvSpPr>
        <p:spPr>
          <a:xfrm>
            <a:off x="6766560" y="1828800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Offline RAG: RoE + BLUF (&lt;40ms)</a:t>
            </a:r>
            <a:endParaRPr lang="en-US" sz="1100" dirty="0"/>
          </a:p>
        </p:txBody>
      </p:sp>
      <p:sp>
        <p:nvSpPr>
          <p:cNvPr id="30" name="node"/>
          <p:cNvSpPr/>
          <p:nvPr/>
        </p:nvSpPr>
        <p:spPr>
          <a:xfrm>
            <a:off x="6766560" y="2377440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STANAG 5-Section SITREP Export</a:t>
            </a:r>
            <a:endParaRPr lang="en-US" sz="1100" dirty="0"/>
          </a:p>
        </p:txBody>
      </p:sp>
      <p:sp>
        <p:nvSpPr>
          <p:cNvPr id="32" name="node"/>
          <p:cNvSpPr/>
          <p:nvPr/>
        </p:nvSpPr>
        <p:spPr>
          <a:xfrm>
            <a:off x="6766560" y="2926080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6656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sz="1000"/>
              <a:t>Kinematic Track Prediction (CEP)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48840" y="237744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434840" y="237744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446520" y="237744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148840" y="237744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365760" y="3584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USER WORKFLOW</a:t>
            </a:r>
            <a:endParaRPr lang="en-US" sz="1100" dirty="0"/>
          </a:p>
        </p:txBody>
      </p:sp>
      <p:sp>
        <p:nvSpPr>
          <p:cNvPr id="39" name="step"/>
          <p:cNvSpPr txBox="1"/>
          <p:nvPr/>
        </p:nvSpPr>
        <p:spPr>
          <a:xfrm>
            <a:off x="365760" y="3886200"/>
            <a:ext cx="1609344" cy="64008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127000" rIns="1778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Upload / ingest</a:t>
            </a:r>
            <a:endParaRPr lang="en-US" sz="1100" dirty="0"/>
          </a:p>
        </p:txBody>
      </p:sp>
      <p:sp>
        <p:nvSpPr>
          <p:cNvPr id="40" name="step"/>
          <p:cNvSpPr txBox="1"/>
          <p:nvPr/>
        </p:nvSpPr>
        <p:spPr>
          <a:xfrm>
            <a:off x="2048256" y="3886200"/>
            <a:ext cx="1609344" cy="64008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127000" rIns="1778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Auto-detect + locate</a:t>
            </a:r>
            <a:endParaRPr lang="en-US" sz="1100" dirty="0"/>
          </a:p>
        </p:txBody>
      </p:sp>
      <p:sp>
        <p:nvSpPr>
          <p:cNvPr id="41" name="step"/>
          <p:cNvSpPr txBox="1"/>
          <p:nvPr/>
        </p:nvSpPr>
        <p:spPr>
          <a:xfrm>
            <a:off x="3730752" y="3886200"/>
            <a:ext cx="1609344" cy="64008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127000" rIns="1778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Score + flag dark ships</a:t>
            </a:r>
            <a:endParaRPr lang="en-US" sz="1100" dirty="0"/>
          </a:p>
        </p:txBody>
      </p:sp>
      <p:sp>
        <p:nvSpPr>
          <p:cNvPr id="42" name="step"/>
          <p:cNvSpPr txBox="1"/>
          <p:nvPr/>
        </p:nvSpPr>
        <p:spPr>
          <a:xfrm>
            <a:off x="5413248" y="3886200"/>
            <a:ext cx="1609344" cy="64008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127000" rIns="1778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Ask RAG for RoE</a:t>
            </a:r>
            <a:endParaRPr lang="en-US" sz="1100" dirty="0"/>
          </a:p>
        </p:txBody>
      </p:sp>
      <p:sp>
        <p:nvSpPr>
          <p:cNvPr id="43" name="step"/>
          <p:cNvSpPr txBox="1"/>
          <p:nvPr/>
        </p:nvSpPr>
        <p:spPr>
          <a:xfrm>
            <a:off x="7095744" y="3886200"/>
            <a:ext cx="1609344" cy="64008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127000" rIns="1778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Dispatch mission + SITREP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" y="45537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000"/>
              <a:t>Runs fully on localhost / tactical edge hardware (RTX / Jetson Orin) with zero external network egress.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Technology Stack &amp; Implementation Plan</a:t>
            </a:r>
            <a:endParaRPr lang="en-US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965960"/>
                <a:gridCol w="1874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Why it fits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React 19, TypeScript, Leaflet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Offline map HUD, fast UI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Backend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FastAPI, Python 3.13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Async REST, light to run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Vision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PyTorch, Ultralytics YOLO11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Strong on small objects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Geo / radar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Rasterio, NumPy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GeoTIFF to WGS-84, CFAR math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Data / edge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SQLite, ONNX Runtime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Zero-ops offline, Jetson path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/>
          <p:nvPr/>
        </p:nvSpPr>
        <p:spPr>
          <a:xfrm>
            <a:off x="457200" y="4160520"/>
            <a:ext cx="48463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46634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sz="1400"/>
              <a:t>100% Open-Source Sovereign Defense Stack. Zero Paid Services. Air-Gapped Edge Verified.</a:t>
            </a:r>
            <a:endParaRPr lang="en-US" sz="1400" dirty="0"/>
          </a:p>
        </p:txBody>
      </p:sp>
      <p:sp>
        <p:nvSpPr>
          <p:cNvPr id="7" name="team card"/>
          <p:cNvSpPr/>
          <p:nvPr/>
        </p:nvSpPr>
        <p:spPr>
          <a:xfrm>
            <a:off x="5486400" y="1051560"/>
            <a:ext cx="32004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577840" y="1078992"/>
            <a:ext cx="3017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responsibilities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417320"/>
            <a:ext cx="30175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pPr indent="0" marL="0">
              <a:buNone/>
            </a:pPr>
            <a:r>
              <a:rPr sz="1150"/>
              <a:t>Neural Vision &amp; Training: Aditya, Gagan (YOLO11m, Focal Loss, 5,838 tiles)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pPr indent="0" marL="0">
              <a:buNone/>
            </a:pPr>
            <a:r>
              <a:rPr sz="1150"/>
              <a:t>SAR Radar &amp; Threat Core: Utsav, Misbah (CA-CFAR, CEP tracking, AIS matching)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pPr indent="0" marL="0">
              <a:buNone/>
            </a:pPr>
            <a:r>
              <a:rPr sz="1150"/>
              <a:t>Tactical C2 UI &amp; RoE RAG: Shalina, Niyati (React 19 HUD, STANAG SITREP, Auth)</a:t>
            </a:r>
            <a:endParaRPr lang="en-US" sz="1200" dirty="0"/>
          </a:p>
        </p:txBody>
      </p:sp>
      <p:sp>
        <p:nvSpPr>
          <p:cNvPr id="10" name="timeline card"/>
          <p:cNvSpPr/>
          <p:nvPr/>
        </p:nvSpPr>
        <p:spPr>
          <a:xfrm>
            <a:off x="5486400" y="2606040"/>
            <a:ext cx="32004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577840" y="2633472"/>
            <a:ext cx="3017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timeline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2971800"/>
            <a:ext cx="301752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pPr indent="0" marL="0">
              <a:buNone/>
            </a:pPr>
            <a:r>
              <a:rPr sz="1150"/>
              <a:t>Phase 1 (Complete): Tiled pipeline, 5,838 augmented dataset &amp; class loss weights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pPr indent="0" marL="0">
              <a:buNone/>
            </a:pPr>
            <a:r>
              <a:rPr sz="1150"/>
              <a:t>Phase 2 (Complete): Balanced retraining (43.4% mAP50, 6.1x vessel surge, 81.3% air recall)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pPr indent="0" marL="0">
              <a:buNone/>
            </a:pPr>
            <a:r>
              <a:rPr sz="1150"/>
              <a:t>Phase 3 (Complete): Multi-domain C2 (SAR dark vessels, drone UAVs, UGS, CEP tracking)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pPr indent="0" marL="0">
              <a:buNone/>
            </a:pPr>
            <a:r>
              <a:rPr sz="1150"/>
              <a:t>Phase 4 (Verified): 12/12 End-to-end smoke test suite passing, live UI deployed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Expected Outcomes &amp; Demo Plan</a:t>
            </a:r>
            <a:endParaRPr lang="en-US" dirty="0"/>
          </a:p>
        </p:txBody>
      </p:sp>
      <p:sp>
        <p:nvSpPr>
          <p:cNvPr id="4" name="card"/>
          <p:cNvSpPr/>
          <p:nvPr/>
        </p:nvSpPr>
        <p:spPr>
          <a:xfrm>
            <a:off x="457200" y="1005840"/>
            <a:ext cx="26517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33272"/>
            <a:ext cx="24688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deliverables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24688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Working React 19 Tactical C2 Dashboard with live Leaflet map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Dual-Spectrum Detection: 43.4% mAP50 optical + 91.7% SAR capture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Dark-Vessel Interception, Drone/UGS feeds, &amp; 0-100 Threat Score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200"/>
              <a:t>Offline Sovereign RoE Advisor (&lt;40ms) + Automated STANAG SITREP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246120" y="1005840"/>
            <a:ext cx="26517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033272"/>
            <a:ext cx="24688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flow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389888"/>
            <a:ext cx="24688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sz="1200"/>
              <a:t>1. Auth &amp; RBAC: Login as Tactical Commander (PBKDF2-200k + JWT)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sz="1200"/>
              <a:t>2. Ingest Scene: Load 1024px reconnaissance tile -&gt; 223 targets found in 6s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sz="1200"/>
              <a:t>3. Multi-Spectrum: Cross-examine SAR dark vessels &amp; UAV drone downlinks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sz="1200"/>
              <a:t>4. RoE Guidance: Query Indian Navy / Army doctrine for interception authority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sz="1200"/>
              <a:t>5. Mission Action: Dispatch tactical vector &amp; generate official STANAG SITREP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035040" y="1005840"/>
            <a:ext cx="26517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033272"/>
            <a:ext cx="24688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measures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417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200" b="1"/>
              <a:t>&lt;1.8 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150"/>
              <a:t>scene-to-decision time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057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200" b="1"/>
              <a:t>43.4% mAP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423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150"/>
              <a:t>mAP50 (6.1x vessel gain)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697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2000" b="1"/>
              <a:t>12 / 12 PASS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150"/>
              <a:t>end-to-end smoke test suite</a:t>
            </a:r>
            <a:endParaRPr lang="en-US" sz="1200" dirty="0"/>
          </a:p>
        </p:txBody>
      </p:sp>
      <p:sp>
        <p:nvSpPr>
          <p:cNvPr id="18" name="risks"/>
          <p:cNvSpPr/>
          <p:nvPr/>
        </p:nvSpPr>
        <p:spPr>
          <a:xfrm>
            <a:off x="457200" y="347472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74720"/>
            <a:ext cx="384048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sz="1100"/>
              <a:t>Operational Readiness: Evaluated on 1,068 xView scenes (128k objects) &amp; Sentinel-1 radar scenes. Runs fully offline on laptop RTX GPU / Jetson profile with zero cloud reliance.</a:t>
            </a:r>
            <a:endParaRPr lang="en-US" sz="1200" dirty="0"/>
          </a:p>
        </p:txBody>
      </p:sp>
      <p:sp>
        <p:nvSpPr>
          <p:cNvPr id="20" name="needs"/>
          <p:cNvSpPr/>
          <p:nvPr/>
        </p:nvSpPr>
        <p:spPr>
          <a:xfrm>
            <a:off x="4663440" y="347472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3474720"/>
            <a:ext cx="384048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sz="1100"/>
              <a:t>Future Horizons: NVIDIA Jetson Orin INT8 quantization, real-time RTSP drone video stream ingest, dynamic Kalman track filtering, and onboard satellite FPGA deployment.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kshak">
  <a:themeElements>
    <a:clrScheme name="Rakshak">
      <a:dk1>
        <a:srgbClr val="1B2A41"/>
      </a:dk1>
      <a:lt1>
        <a:srgbClr val="FFFFFF"/>
      </a:lt1>
      <a:dk2>
        <a:srgbClr val="0B1F3A"/>
      </a:dk2>
      <a:lt2>
        <a:srgbClr val="EEF2F7"/>
      </a:lt2>
      <a:accent1>
        <a:srgbClr val="FF9933"/>
      </a:accent1>
      <a:accent2>
        <a:srgbClr val="0F766E"/>
      </a:accent2>
      <a:accent3>
        <a:srgbClr val="C0392B"/>
      </a:accent3>
      <a:accent4>
        <a:srgbClr val="3A5A8C"/>
      </a:accent4>
      <a:accent5>
        <a:srgbClr val="8A97AB"/>
      </a:accent5>
      <a:accent6>
        <a:srgbClr val="2E7D32"/>
      </a:accent6>
      <a:hlink>
        <a:srgbClr val="3A5A8C"/>
      </a:hlink>
      <a:folHlink>
        <a:srgbClr val="8A97AB"/>
      </a:folHlink>
    </a:clrScheme>
    <a:fontScheme name="Raksha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Rakshak 2.0 - Hackfest 2026 Screening Round</dc:title>
  <dc:subject>PptxGenJS Presentation</dc:subject>
  <dc:creator>Team BotS</dc:creator>
  <cp:lastModifiedBy>Team BotS</cp:lastModifiedBy>
  <cp:revision>1</cp:revision>
  <dcterms:created xsi:type="dcterms:W3CDTF">2026-10-03T15:41:03Z</dcterms:created>
  <dcterms:modified xsi:type="dcterms:W3CDTF">2026-10-03T15:41:03Z</dcterms:modified>
</cp:coreProperties>
</file>